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914400"/>
            <a:ext cx="3657600" cy="3657600"/>
          </a:xfrm>
          <a:prstGeom prst="ellipse">
            <a:avLst/>
          </a:prstGeom>
          <a:solidFill>
            <a:srgbClr val="142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1000"/>
              </a:spcAft>
              <a:defRPr sz="6400" b="1">
                <a:solidFill>
                  <a:srgbClr val="00F0FF"/>
                </a:solidFill>
                <a:latin typeface="Arial"/>
              </a:defRPr>
            </a:pPr>
            <a:r>
              <a:t>Flying Run</a:t>
            </a:r>
          </a:p>
          <a:p>
            <a:pPr>
              <a:spcAft>
                <a:spcPts val="1500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端云协同的AI陪伴式运动打卡与健康数据监测系统</a:t>
            </a:r>
          </a:p>
          <a:p>
            <a:pPr>
              <a:spcAft>
                <a:spcPts val="4000"/>
              </a:spcAft>
              <a:defRPr sz="1400">
                <a:solidFill>
                  <a:srgbClr val="C8C8CD"/>
                </a:solidFill>
                <a:latin typeface="Microsoft YaHei"/>
              </a:defRPr>
            </a:pPr>
            <a:r>
              <a:t>面向校园隐私安全、社区适老化康养与个人高情感伴跑的多模态智能健康平台</a:t>
            </a:r>
          </a:p>
          <a:p>
            <a:pPr>
              <a:defRPr sz="1800" b="1">
                <a:solidFill>
                  <a:srgbClr val="39FF14"/>
                </a:solidFill>
                <a:latin typeface="Microsoft YaHei"/>
              </a:defRPr>
            </a:pPr>
            <a:r>
              <a:t>【 创新工程实践报告 &amp; 商业计划书 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73152" cy="4572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目录 / 汇报大纲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5156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Flying Run 全方位汇报内容框架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3200400" cy="1645920"/>
          </a:xfrm>
          <a:prstGeom prst="roundRect">
            <a:avLst/>
          </a:prstGeom>
          <a:solidFill>
            <a:srgbClr val="1F2026"/>
          </a:solidFill>
          <a:ln w="19050">
            <a:solidFill>
              <a:srgbClr val="323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2834640" cy="12801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39FF14"/>
                </a:solidFill>
                <a:latin typeface="Arial"/>
              </a:defRPr>
            </a:pPr>
            <a:r>
              <a:t>01</a:t>
            </a:r>
          </a:p>
          <a:p>
            <a:pPr>
              <a:spcAft>
                <a:spcPts val="4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项目背景与市场契机</a:t>
            </a:r>
          </a:p>
          <a:p>
            <a:pPr>
              <a:defRPr sz="1100">
                <a:solidFill>
                  <a:srgbClr val="96969B"/>
                </a:solidFill>
                <a:latin typeface="Microsoft YaHei"/>
              </a:defRPr>
            </a:pPr>
            <a:r>
              <a:t>政策导向与数字体育市场爆发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11680"/>
            <a:ext cx="3200400" cy="1645920"/>
          </a:xfrm>
          <a:prstGeom prst="roundRect">
            <a:avLst/>
          </a:prstGeom>
          <a:solidFill>
            <a:srgbClr val="1F2026"/>
          </a:solidFill>
          <a:ln w="19050">
            <a:solidFill>
              <a:srgbClr val="323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194560"/>
            <a:ext cx="2834640" cy="12801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39FF14"/>
                </a:solidFill>
                <a:latin typeface="Arial"/>
              </a:defRPr>
            </a:pPr>
            <a:r>
              <a:t>02</a:t>
            </a:r>
          </a:p>
          <a:p>
            <a:pPr>
              <a:spcAft>
                <a:spcPts val="4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行业三大核心痛点</a:t>
            </a:r>
          </a:p>
          <a:p>
            <a:pPr>
              <a:defRPr sz="1100">
                <a:solidFill>
                  <a:srgbClr val="96969B"/>
                </a:solidFill>
                <a:latin typeface="Microsoft YaHei"/>
              </a:defRPr>
            </a:pPr>
            <a:r>
              <a:t>C端/B端/G端痛点与真实调研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2011680"/>
            <a:ext cx="3200400" cy="1645920"/>
          </a:xfrm>
          <a:prstGeom prst="roundRect">
            <a:avLst/>
          </a:prstGeom>
          <a:solidFill>
            <a:srgbClr val="1F2026"/>
          </a:solidFill>
          <a:ln w="19050">
            <a:solidFill>
              <a:srgbClr val="323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2194560"/>
            <a:ext cx="2834640" cy="12801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39FF14"/>
                </a:solidFill>
                <a:latin typeface="Arial"/>
              </a:defRPr>
            </a:pPr>
            <a:r>
              <a:t>03</a:t>
            </a:r>
          </a:p>
          <a:p>
            <a:pPr>
              <a:spcAft>
                <a:spcPts val="4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产品核心解决方案</a:t>
            </a:r>
          </a:p>
          <a:p>
            <a:pPr>
              <a:defRPr sz="1100">
                <a:solidFill>
                  <a:srgbClr val="96969B"/>
                </a:solidFill>
                <a:latin typeface="Microsoft YaHei"/>
              </a:defRPr>
            </a:pPr>
            <a:r>
              <a:t>三大矩阵商业与技术模式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023360"/>
            <a:ext cx="3200400" cy="1645920"/>
          </a:xfrm>
          <a:prstGeom prst="roundRect">
            <a:avLst/>
          </a:prstGeom>
          <a:solidFill>
            <a:srgbClr val="1F2026"/>
          </a:solidFill>
          <a:ln w="19050">
            <a:solidFill>
              <a:srgbClr val="323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206240"/>
            <a:ext cx="2834640" cy="12801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39FF14"/>
                </a:solidFill>
                <a:latin typeface="Arial"/>
              </a:defRPr>
            </a:pPr>
            <a:r>
              <a:t>04</a:t>
            </a:r>
          </a:p>
          <a:p>
            <a:pPr>
              <a:spcAft>
                <a:spcPts val="4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端云协同技术壁垒</a:t>
            </a:r>
          </a:p>
          <a:p>
            <a:pPr>
              <a:defRPr sz="1100">
                <a:solidFill>
                  <a:srgbClr val="96969B"/>
                </a:solidFill>
                <a:latin typeface="Microsoft YaHei"/>
              </a:defRPr>
            </a:pPr>
            <a:r>
              <a:t>算法微调、情感计算与架构设计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4023360"/>
            <a:ext cx="3200400" cy="1645920"/>
          </a:xfrm>
          <a:prstGeom prst="roundRect">
            <a:avLst/>
          </a:prstGeom>
          <a:solidFill>
            <a:srgbClr val="1F2026"/>
          </a:solidFill>
          <a:ln w="19050">
            <a:solidFill>
              <a:srgbClr val="323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4206240"/>
            <a:ext cx="2834640" cy="12801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39FF14"/>
                </a:solidFill>
                <a:latin typeface="Arial"/>
              </a:defRPr>
            </a:pPr>
            <a:r>
              <a:t>05</a:t>
            </a:r>
          </a:p>
          <a:p>
            <a:pPr>
              <a:spcAft>
                <a:spcPts val="4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用户体验与游戏化</a:t>
            </a:r>
          </a:p>
          <a:p>
            <a:pPr>
              <a:defRPr sz="1100">
                <a:solidFill>
                  <a:srgbClr val="96969B"/>
                </a:solidFill>
                <a:latin typeface="Microsoft YaHei"/>
              </a:defRPr>
            </a:pPr>
            <a:r>
              <a:t>玻璃美学设计与八角游戏化框架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4023360"/>
            <a:ext cx="3200400" cy="1645920"/>
          </a:xfrm>
          <a:prstGeom prst="roundRect">
            <a:avLst/>
          </a:prstGeom>
          <a:solidFill>
            <a:srgbClr val="1F2026"/>
          </a:solidFill>
          <a:ln w="19050">
            <a:solidFill>
              <a:srgbClr val="323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4206240"/>
            <a:ext cx="2834640" cy="12801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39FF14"/>
                </a:solidFill>
                <a:latin typeface="Arial"/>
              </a:defRPr>
            </a:pPr>
            <a:r>
              <a:t>06</a:t>
            </a:r>
          </a:p>
          <a:p>
            <a:pPr>
              <a:spcAft>
                <a:spcPts val="4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商业模式与财务预测</a:t>
            </a:r>
          </a:p>
          <a:p>
            <a:pPr>
              <a:defRPr sz="1100">
                <a:solidFill>
                  <a:srgbClr val="96969B"/>
                </a:solidFill>
                <a:latin typeface="Microsoft YaHei"/>
              </a:defRPr>
            </a:pPr>
            <a:r>
              <a:t>盈利矩阵、极低边际成本与里程碑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73152" cy="4572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一、 政策依据与数字体育市场爆发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5156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全民健康战略与跨部门协作机制，驱动运动促进健康事业的高质量发展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F2026"/>
          </a:solidFill>
          <a:ln w="19050">
            <a:solidFill>
              <a:srgbClr val="323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20"/>
            <a:ext cx="4663440" cy="39319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F0FF"/>
                </a:solidFill>
                <a:latin typeface="Microsoft YaHei"/>
              </a:defRPr>
            </a:pPr>
            <a:r>
              <a:t>政策支撑：国家战略关口前移</a:t>
            </a: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• 《健康中国2030规划纲要》</a:t>
            </a: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  - 明确将全民健身作为国家战略，目标到2030年经常参加体育锻炼的人数比例达40%以上。</a:t>
            </a: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• 《关于推动运动促进健康事业高质量发展的指导意见》(2025)</a:t>
            </a: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  - 明确“体医融合”导向，提倡在社区推广科学的运动干预，打通体育、卫健、民政及教育部门协作。</a:t>
            </a: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• 十五五群体工作规划</a:t>
            </a: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  - 推动数字化转型，以“数字体育大脑”、“运动码”试点打破公共服务不均等，实现治理现代化。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F2026"/>
          </a:solidFill>
          <a:ln w="19050">
            <a:solidFill>
              <a:srgbClr val="323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74520"/>
            <a:ext cx="4663440" cy="39319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9FF14"/>
                </a:solidFill>
                <a:latin typeface="Microsoft YaHei"/>
              </a:defRPr>
            </a:pPr>
            <a:r>
              <a:t>市场红利：大健康与AI陪伴双重驱动</a:t>
            </a: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• AI 智能健身软件市场</a:t>
            </a: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  - 2024年国内规模达523亿元，预计2025年激增至821.6亿元，活跃用户接近3亿。</a:t>
            </a: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• 智能穿戴设备市场</a:t>
            </a: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  - IDC预测2025年国内智能穿戴大盘将达707亿元，年复合增长率（CAGR）维持在14.9%以上。</a:t>
            </a: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• AI 情感陪伴赛道</a:t>
            </a: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  - 2025年全球规模约377亿美元，预计2034年将激增至4300亿美元，年复合增长率达31.3%。</a:t>
            </a: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  - 本系统首创AI陪伴与运动健康融合，深度切入情感刚需。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73152" cy="45720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二、 痛点分析：数字体育与监测生态错位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5156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当前C端、B端校园、G端社区健康产品均存在严重未满足的强烈需求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F2026"/>
          </a:solidFill>
          <a:ln w="19050">
            <a:solidFill>
              <a:srgbClr val="323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20"/>
            <a:ext cx="2834640" cy="39319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3B30"/>
                </a:solidFill>
                <a:latin typeface="Microsoft YaHei"/>
              </a:defRPr>
            </a:pPr>
            <a:r>
              <a:t>C端运动应用 (如 Keep、悦跑圈)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• 商业化吃相难看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  - 原本单纯的记录工具沦为“广告+拼多多+小红书”，基础数据导出也被VIP门槛卡死。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• 孤独感与情绪匮乏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  - 死板的机器音缺乏情感，凡尔赛式的秀场社区造成普通用户流失。30日留存率出现断崖式下跌。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F2026"/>
          </a:solidFill>
          <a:ln w="19050">
            <a:solidFill>
              <a:srgbClr val="323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74520"/>
            <a:ext cx="2834640" cy="39319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3B30"/>
                </a:solidFill>
                <a:latin typeface="Microsoft YaHei"/>
              </a:defRPr>
            </a:pPr>
            <a:r>
              <a:t>校园阳光跑 (如 步道乐跑等)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• “技术霸权”引发逆反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  - GPS定位频繁漂移、后台被杀丢数据，导致学生对强制跑步产生极强抵触情绪。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• 黑产泛滥与隐私红线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  - 催生了代跑、定位作弊灰产；强制收集地理轨迹和身份隐私，极易面临数据合规风险。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F2026"/>
          </a:solidFill>
          <a:ln w="19050">
            <a:solidFill>
              <a:srgbClr val="323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74520"/>
            <a:ext cx="2834640" cy="39319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3B30"/>
                </a:solidFill>
                <a:latin typeface="Microsoft YaHei"/>
              </a:defRPr>
            </a:pPr>
            <a:r>
              <a:t>社区适老化监测 (适老硬件/App)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• “伪适老”与高误报率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  - 大多仅放大字体，层级交互依旧复杂；防跌倒监测误报率极高（如老人用力拍腿即报警）。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• “被监视”与充电焦虑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  - 监控设备剥夺老人尊严，一天一充严重损害便利性，老人抗拒使用导致功能变伪需求。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73152" cy="45720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三、 核心解决方案：三大矩阵模式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5156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通过高情感温度、高隐私安全、高算法精度的服务体系，精准覆盖细分人群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F2026"/>
          </a:solidFill>
          <a:ln w="19050">
            <a:solidFill>
              <a:srgbClr val="323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20"/>
            <a:ext cx="2834640" cy="39319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9FF14"/>
                </a:solidFill>
                <a:latin typeface="Microsoft YaHei"/>
              </a:defRPr>
            </a:pPr>
            <a:r>
              <a:t>AI陪伴运动伴跑 (B2C大众跑者)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• GPT-SoVITS 人声复刻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  - 上传5秒音频即可生成恋人、亲人或动漫角色音色，实时在跑步中伴跑。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• 生理-情感共鸣计算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  - 根据心率自动切换语调：平稳时闲聊，心率过高时警示，终点前高亢激昂。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• 千人千面运动处方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  - 汇总体征数据，生成量身定制的运动和饮食规划建议。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F2026"/>
          </a:solidFill>
          <a:ln w="19050">
            <a:solidFill>
              <a:srgbClr val="323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74520"/>
            <a:ext cx="2834640" cy="39319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9FF14"/>
                </a:solidFill>
                <a:latin typeface="Microsoft YaHei"/>
              </a:defRPr>
            </a:pPr>
            <a:r>
              <a:t>校园隐私打卡 (B2B2C学校教务)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• “数据不落地”代理模式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  - App作为富客户端代理，将轨迹等敏感信息直接加密直传校方内网，开发商绝不留存。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• 多维传感器交叉验证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  - 支持穿戴手环与GPS比对，校验心率/步频与定位轨迹的一致性，智能判定代跑等作弊行为。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F2026"/>
          </a:solidFill>
          <a:ln w="19050">
            <a:solidFill>
              <a:srgbClr val="323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74520"/>
            <a:ext cx="2834640" cy="39319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9FF14"/>
                </a:solidFill>
                <a:latin typeface="Microsoft YaHei"/>
              </a:defRPr>
            </a:pPr>
            <a:r>
              <a:t>社区康养静默守护 (B2G/B2B康养)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• 后台无感静默守护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  - 运行时无感驻留后台，不需要老年人操作App或进行任何多余交互。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• 云端大模型智能降噪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  - 结合原始传感器信号与心率突变二次校验，将挥手等跌倒误报率大幅降低85%以上。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• 一键连线全科医生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  - 异常时联动Direct Dial，自动报警、发送定位与推送。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73152" cy="4572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四、 端云协同架构与极低边际成本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5156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摆脱对重度闭源大模型的依赖，通过开源模型本地化微调构筑技术与成本护城河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F2026"/>
          </a:solidFill>
          <a:ln w="19050">
            <a:solidFill>
              <a:srgbClr val="323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20"/>
            <a:ext cx="4663440" cy="39319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F0FF"/>
                </a:solidFill>
                <a:latin typeface="Microsoft YaHei"/>
              </a:defRPr>
            </a:pPr>
            <a:r>
              <a:t>技术架构壁垒</a:t>
            </a: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• 跨平台富前端架构</a:t>
            </a: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  - 采用 Flutter + Dart 构建，通过 Adapter 适配器模式，搭积木式零成本接入华为、小米等主流穿戴生态。</a:t>
            </a: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• 云端极速声音克隆管道</a:t>
            </a: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  - 基于 GPT-SoVITS 在云端 GPU 实时加速部署，实现低延迟语音合成与动态伴跑流推送。</a:t>
            </a: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• 数据解耦与加密网关</a:t>
            </a: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  - 采用 Dio 拦截网关结合本地国密算法，在前端直接完成学籍信息与运动轨迹的组装和加密传输。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F2026"/>
          </a:solidFill>
          <a:ln w="19050">
            <a:solidFill>
              <a:srgbClr val="323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74520"/>
            <a:ext cx="4663440" cy="39319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9FF14"/>
                </a:solidFill>
                <a:latin typeface="Microsoft YaHei"/>
              </a:defRPr>
            </a:pPr>
            <a:r>
              <a:t>极低边际成本结构</a:t>
            </a: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• 大模型微调极低开销 (&lt;5万人民币)</a:t>
            </a: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  - 弃用昂贵的闭源GPT大模型，本地微调开源 Qwen3-7B。引入 QLoRA 与 Paged Optimizers，单张消费级显卡(如4090)即可完成医学偏好对齐训练。</a:t>
            </a: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• 声音克隆低运行成本 (&lt;1万人民币)</a:t>
            </a: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  - 少样本克隆仅需 5 秒录音。推理采用轻量级异步请求，随着用户规模上升，服务器带宽及计算开销平缓。</a:t>
            </a: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• 边际推理成本接近于零</a:t>
            </a: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  - 避免API按Token计费模式，单次训练完成后，私有云部署可承受极高并发量。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73152" cy="4572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五、 算法创新：QLoRA + Qwen3-7B + DPO 运动处方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5156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依据2025年《临床运动处方实践专家共识》进行DPO医学专家偏好对齐，解决死板硬编码处方问题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114800" cy="4389120"/>
          </a:xfrm>
          <a:prstGeom prst="roundRect">
            <a:avLst/>
          </a:prstGeom>
          <a:solidFill>
            <a:srgbClr val="1F2026"/>
          </a:solidFill>
          <a:ln w="19050">
            <a:solidFill>
              <a:srgbClr val="323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20"/>
            <a:ext cx="3657600" cy="39319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F0FF"/>
                </a:solidFill>
                <a:latin typeface="Microsoft YaHei"/>
              </a:defRPr>
            </a:pPr>
            <a:r>
              <a:t>偏好对齐原理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• 彻底抛弃硬编码静态逻辑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  - 传统APP只能依靠预设公式输出简陋模版，本系统大模型能综合评估多维体征。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• 循证医学标准融合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  - 针对运动风险筛查、安全心率区间、特殊病理进行医学奖励打分。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• DPO 偏好对齐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  - 通过 Direct Preference Optimization，训练模型规避“过度激进、不顾疲劳”的推荐，转向“符合医学安全共识”的主动降级处方。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0" y="1645920"/>
            <a:ext cx="6217920" cy="4389120"/>
          </a:xfrm>
          <a:prstGeom prst="roundRect">
            <a:avLst/>
          </a:prstGeom>
          <a:solidFill>
            <a:srgbClr val="1F2026"/>
          </a:solidFill>
          <a:ln w="19050">
            <a:solidFill>
              <a:srgbClr val="323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40680" y="1874519"/>
            <a:ext cx="5760720" cy="39319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39FF14"/>
                </a:solidFill>
                <a:latin typeface="Microsoft YaHei"/>
              </a:defRPr>
            </a:pPr>
            <a:r>
              <a:t>医学 DPO 对齐典型样本设计对比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输入：48岁男性，昨晚睡眠4.2h（极低），今日静息心率 84bpm（偏高），诉求：高强度跑步</a:t>
            </a:r>
          </a:p>
          <a:p>
            <a:pPr>
              <a:defRPr sz="1200" b="1">
                <a:solidFill>
                  <a:srgbClr val="39FF14"/>
                </a:solidFill>
                <a:latin typeface="Microsoft YaHei"/>
              </a:defRPr>
            </a:pPr>
            <a:r>
              <a:t>✓ 推荐(Chosen) - 符合《共识》医学干预要求</a:t>
            </a:r>
          </a:p>
          <a:p>
            <a:pPr>
              <a:spcAft>
                <a:spcPts val="1200"/>
              </a:spcAft>
              <a:defRPr sz="1100">
                <a:solidFill>
                  <a:srgbClr val="C8C8CD"/>
                </a:solidFill>
                <a:latin typeface="Microsoft YaHei"/>
              </a:defRPr>
            </a:pPr>
            <a:r>
              <a:t>“因您昨晚睡眠过少且心率偏高，有心肌超负荷风险。今日不建议原定燃脂跑，今日处方调整为：30分钟低强度慢走（LSD），靶心率控制在110-125 bpm，侧重身体恢复。”</a:t>
            </a:r>
          </a:p>
          <a:p>
            <a:pPr>
              <a:defRPr sz="1200" b="1">
                <a:solidFill>
                  <a:srgbClr val="FF3B30"/>
                </a:solidFill>
                <a:latin typeface="Microsoft YaHei"/>
              </a:defRPr>
            </a:pPr>
            <a:r>
              <a:t>✗ 拒绝(Rejected) - 死板硬套或违背医学常识</a:t>
            </a:r>
          </a:p>
          <a:p>
            <a:pPr>
              <a:defRPr sz="1100">
                <a:solidFill>
                  <a:srgbClr val="96969B"/>
                </a:solidFill>
                <a:latin typeface="Microsoft YaHei"/>
              </a:defRPr>
            </a:pPr>
            <a:r>
              <a:t>“好的，已为您开启燃脂跑模式。今天请坚持跑完 5 公里，配速 5 分钟，加油坚持就是胜利！”(容易诱发心梗等突发风险)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73152" cy="45720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六、 陪伴创新：GPT-SoVITS声音克隆与情感计算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5156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5秒声音克隆结合生理体征解耦情感计算，让AI伴跑教练真正拥有生命质感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F2026"/>
          </a:solidFill>
          <a:ln w="19050">
            <a:solidFill>
              <a:srgbClr val="323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20"/>
            <a:ext cx="4663440" cy="39319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F0FF"/>
                </a:solidFill>
                <a:latin typeface="Microsoft YaHei"/>
              </a:defRPr>
            </a:pPr>
            <a:r>
              <a:t>5秒极速声音复刻机制</a:t>
            </a: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• 极低门槛的音色克隆</a:t>
            </a: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  - 用户仅需录制或上传5秒的亲人、恋人或偶像音频片段，云端 GPT-SoVITS 就能高保真复刻其音色、情绪与语调起伏。</a:t>
            </a: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• 跨时间的情感记忆保留</a:t>
            </a: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  - AI 教练会记住用户上一周的健康抱怨(如“膝盖微酸”)，在本次运动开始前主动进行关切询问，建立长期信任关系纽带。</a:t>
            </a: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• 规避外界纪律约束焦虑</a:t>
            </a: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  - 将枯燥的运动打卡，转化为与“亲密关系”共同度过的温暖时光，极大提升用户粘性与打卡动力。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F2026"/>
          </a:solidFill>
          <a:ln w="19050">
            <a:solidFill>
              <a:srgbClr val="323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74520"/>
            <a:ext cx="4663440" cy="39319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9FF14"/>
                </a:solidFill>
                <a:latin typeface="Microsoft YaHei"/>
              </a:defRPr>
            </a:pPr>
            <a:r>
              <a:t>运动生理信号的情感解耦</a:t>
            </a: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• 多维生理特征情感计算</a:t>
            </a: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  - 运动中的心率变异性(HRV)、步频呼吸比及加速度波形，是身体极限与情绪精力的真实映射。</a:t>
            </a: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• 伴跑语速与语调动态生成</a:t>
            </a: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  - 心率平稳时(&lt;120 bpm): 伴跑人声温和，以闲聊语气科普健康知识，给予陪伴。</a:t>
            </a: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  - 达到上限时(&gt;165 bpm): 语气紧急急促，发出主动警示(如“心率太高了，听我的，快慢下来！”)。</a:t>
            </a: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  - 冲刺阶段: 语气高亢激昂，释放强力激励。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73152" cy="4572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七、 架构创新：“数据不落地”的隐私打卡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5156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首创富前端交互代理架构，将运动打卡与学校/社区医院内网直连，打破商业隐私顾虑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F2026"/>
          </a:solidFill>
          <a:ln w="19050">
            <a:solidFill>
              <a:srgbClr val="323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20"/>
            <a:ext cx="2834640" cy="39319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0F0FF"/>
                </a:solidFill>
                <a:latin typeface="Microsoft YaHei"/>
              </a:defRPr>
            </a:pPr>
            <a:r>
              <a:t>1. 终端感知与清洗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• 归一化手环接口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  - 手机APP通过蓝牙拉取华为、小米手环或手机内置传感器的步数、心率与GPS轨迹。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• 脱敏上报云端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  - 过滤掉个人姓名、学号等敏感身份信息，仅将纯粹生理指标上传至 Flying Run 算法云进行处方与音频推理。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F2026"/>
          </a:solidFill>
          <a:ln w="19050">
            <a:solidFill>
              <a:srgbClr val="323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74520"/>
            <a:ext cx="2834640" cy="39319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9FF14"/>
                </a:solidFill>
                <a:latin typeface="Microsoft YaHei"/>
              </a:defRPr>
            </a:pPr>
            <a:r>
              <a:t>2. 数据不落地中转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• 纯代理中转网关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  - Flying Run 服务端作为中转，不建立任何轨迹数据库，不滞留个人隐私行踪。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• 加密直传校园内网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  - 轨迹与学籍信息在本地组装，以高强度非对称加密直接回传校方教务系统，完全规避泄露红线。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F2026"/>
          </a:solidFill>
          <a:ln w="19050">
            <a:solidFill>
              <a:srgbClr val="323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74520"/>
            <a:ext cx="2926080" cy="39319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0F0FF"/>
                </a:solidFill>
                <a:latin typeface="Microsoft YaHei"/>
              </a:defRPr>
            </a:pPr>
            <a:r>
              <a:t>3. 安全防作弊校验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• 多维传感器交叉验证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  - 传统代跑/模拟器定位作弊仅篡改GPS轨迹，本系统提取智能硬件获取的心率/步频波动曲线。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• 动态逻辑鉴权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  - 智能算法检测到轨迹变动但手环心率与步数未发生响应波动时，自动在后台判定为疑似作弊，确保考核公平性。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73152" cy="4572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八、 用户体验：暗色玻璃微光美学与灵动交互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5156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高端科技质感UI，配合流畅阻尼动画，构建高情感化、无干扰的运动交互界面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F2026"/>
          </a:solidFill>
          <a:ln w="19050">
            <a:solidFill>
              <a:srgbClr val="323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20"/>
            <a:ext cx="4663440" cy="39319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F0FF"/>
                </a:solidFill>
                <a:latin typeface="Microsoft YaHei"/>
              </a:defRPr>
            </a:pPr>
            <a:r>
              <a:t>暗色玻璃拟态 (Glassmorphism)</a:t>
            </a: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• 极客暗黑主题底色</a:t>
            </a: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  - 采用 `#0F1013` 深色背景，大幅降低在运动、强光或夜跑时的视觉刺眼感，提供高度沉浸感。</a:t>
            </a: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• 炫彩霓虹配色与拟物卡片</a:t>
            </a: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  - 卡片使用 `#1F2026` 配合背景高斯模糊(`blur(20px)`)及发光边框，搭配动力绿、科技蓝与警示红点缀。</a:t>
            </a: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• 科技感字体系规范</a:t>
            </a: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  - 引入 Outfit 现代字体系，以及核心数据展示上的 Orbitron 科技数码字体，极具运动张力与科技美感。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F2026"/>
          </a:solidFill>
          <a:ln w="19050">
            <a:solidFill>
              <a:srgbClr val="323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74520"/>
            <a:ext cx="4663440" cy="39319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9FF14"/>
                </a:solidFill>
                <a:latin typeface="Microsoft YaHei"/>
              </a:defRPr>
            </a:pPr>
            <a:r>
              <a:t>灵动岛组件与动态指示器</a:t>
            </a: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• 全局轻量级灵动岛(Dynamic Island)</a:t>
            </a: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  - 运动时有伴跑语音、打卡点触发或生理预警时，顶端灵动岛以平滑阻尼动画展开，不打断主流程操作。</a:t>
            </a: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• 动态心率呼吸灯 (PulsingDot)</a:t>
            </a: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  - 心率卡片指示灯会根据手环回传的实时心率调整其闪烁频率，赋予应用生命跳动质感。</a:t>
            </a: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• 拟音轨波形组件</a:t>
            </a: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  - AI 伴跑教练在发声时，界面下方会渲染实时根据音频频谱跳动的迷你音轨柱，增强人机交互反馈。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73152" cy="45720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九、 游戏化驱动与弹性健康打卡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5156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应用八角游戏化框架，变“外界强制纪律约束”为“内在心理游戏化驱动”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F2026"/>
          </a:solidFill>
          <a:ln w="19050">
            <a:solidFill>
              <a:srgbClr val="323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20"/>
            <a:ext cx="4663440" cy="39319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F0FF"/>
                </a:solidFill>
                <a:latin typeface="Microsoft YaHei"/>
              </a:defRPr>
            </a:pPr>
            <a:r>
              <a:t>八角游戏化机制应用</a:t>
            </a: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• 史诗意义与使命感 (Epic Meaning)</a:t>
            </a: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  - 跑步里程转换为“绿色碳减排点数”，汇入高校/班级榜，达标时由企业出资以班级名义在西北种下真树。</a:t>
            </a: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• 解锁发音人声勋章 (Development)</a:t>
            </a: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  - 连续打卡解锁特定 AI 音色参数(例如元气傲娇音、魔鬼严格教练音)及炫酷三维勋章卡片。</a:t>
            </a: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• 社交关联与宿舍小镇 (Social Influence)</a:t>
            </a: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  - 情侣可跨地域声音克隆伴跑；宿舍组队建设虚拟小镇，任何一人断跑会导致小镇停电，对抗个人惰性。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F2026"/>
          </a:solidFill>
          <a:ln w="19050">
            <a:solidFill>
              <a:srgbClr val="323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74520"/>
            <a:ext cx="4663440" cy="39319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9FF14"/>
                </a:solidFill>
                <a:latin typeface="Microsoft YaHei"/>
              </a:defRPr>
            </a:pPr>
            <a:r>
              <a:t>弹性健康任务分配逻辑</a:t>
            </a: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• 智能拉取手环最新指标</a:t>
            </a: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  - 当用户触发跑步打卡，系统立即检查睡眠质量与静息心率是否处于异常区间。</a:t>
            </a: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• 生理保护主动任务降级</a:t>
            </a: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  - 判定睡眠&lt;5h或静息心率&gt;85bpm时，大模型评估其处于疲劳状态。自动将“3公里跑”降级为“1.5公里漫步”。</a:t>
            </a: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• 天气自适应推荐与断连保护</a:t>
            </a:r>
          </a:p>
          <a:p>
            <a:pPr>
              <a:spcAft>
                <a:spcPts val="600"/>
              </a:spcAft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  - 检测到雾霾或暴雨时，自动切换为室内徒步/跳绳打卡。降级打卡仍算作连续，保护用户成就感。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73152" cy="4572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十、 商业模式与三端盈利矩阵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5156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打通学校B端、社区G端与大众跑者C端，建立健康促进生态闭环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F2026"/>
          </a:solidFill>
          <a:ln w="19050">
            <a:solidFill>
              <a:srgbClr val="323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20"/>
            <a:ext cx="2834640" cy="39319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0F0FF"/>
                </a:solidFill>
                <a:latin typeface="Microsoft YaHei"/>
              </a:defRPr>
            </a:pPr>
            <a:r>
              <a:t>B端：智慧校园服务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• 目标群体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  - 大中专院校体育教务部门。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• 盈利模式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  - 提供防作弊校园跑系统 SaaS 平台订阅费；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  - 按年/按学生人数收取数据网关中转与本地系统维保费。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• 客单价估算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  - 平均每所高校收取约 **5万元 / 年** 的服务费。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F2026"/>
          </a:solidFill>
          <a:ln w="19050">
            <a:solidFill>
              <a:srgbClr val="323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74520"/>
            <a:ext cx="2834640" cy="39319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9FF14"/>
                </a:solidFill>
                <a:latin typeface="Microsoft YaHei"/>
              </a:defRPr>
            </a:pPr>
            <a:r>
              <a:t>G端：智慧社区康养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• 目标群体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  - 街道办、社区卫生中心、适老康养机构。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• 盈利模式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  - 老人健康监护 API 接口开发费；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  - 社区物联网硬件中继网关部署及维护；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  - 按年收取远程高危预警与医生连线维保费。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• 客单价估算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  - 平均每个社区点位收取约 **3万元 / 年**。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F2026"/>
          </a:solidFill>
          <a:ln w="19050">
            <a:solidFill>
              <a:srgbClr val="323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74520"/>
            <a:ext cx="2926080" cy="39319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0F0FF"/>
                </a:solidFill>
                <a:latin typeface="Microsoft YaHei"/>
              </a:defRPr>
            </a:pPr>
            <a:r>
              <a:t>C端：增值与分销变现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• 声音克隆增值服务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  - 基础克隆免费1个，增加音色或扩充云存储空间收取存储费 (**15元/月**)。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• 大模型医学Token包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  - 超额医学处方出具，按使用Token计费 (**20元/10万字**)。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• 硬件分销 CPS 佣金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  - 推荐未购硬件用户购买合作手环，抽取 **8%-12%** 佣金。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73152" cy="4572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十一、 财务预测与融资里程碑规划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5156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>
                <a:solidFill>
                  <a:srgbClr val="C8C8CD"/>
                </a:solidFill>
                <a:latin typeface="Microsoft YaHei"/>
              </a:defRPr>
            </a:pPr>
            <a:r>
              <a:t>三年期用户规模与盈利预测，及天使轮融资资金用途规划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F2026"/>
          </a:solidFill>
          <a:ln w="19050">
            <a:solidFill>
              <a:srgbClr val="323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20"/>
            <a:ext cx="4663440" cy="39319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F0FF"/>
                </a:solidFill>
                <a:latin typeface="Microsoft YaHei"/>
              </a:defRPr>
            </a:pPr>
            <a:r>
              <a:t>三年期运营与财务推演指标</a:t>
            </a:r>
          </a:p>
          <a:p>
            <a:pPr>
              <a:spcAft>
                <a:spcPts val="20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第一年 (Month 1-12):</a:t>
            </a:r>
          </a:p>
          <a:p>
            <a:pPr>
              <a:spcAft>
                <a:spcPts val="200"/>
              </a:spcAft>
              <a:defRPr sz="1100">
                <a:solidFill>
                  <a:srgbClr val="C8C8CD"/>
                </a:solidFill>
                <a:latin typeface="Microsoft YaHei"/>
              </a:defRPr>
            </a:pPr>
            <a:r>
              <a:t>  - C端用户达 10万人，签约高校3所，社区10个。</a:t>
            </a:r>
          </a:p>
          <a:p>
            <a:pPr>
              <a:spcAft>
                <a:spcPts val="800"/>
              </a:spcAft>
              <a:defRPr sz="1100">
                <a:solidFill>
                  <a:srgbClr val="39FF14"/>
                </a:solidFill>
                <a:latin typeface="Microsoft YaHei"/>
              </a:defRPr>
            </a:pPr>
            <a:r>
              <a:t>  - 预计年度总营业收入：**85 万元**，净利润率 -15%。</a:t>
            </a:r>
          </a:p>
          <a:p>
            <a:pPr>
              <a:spcAft>
                <a:spcPts val="20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第二年 (Month 13-24):</a:t>
            </a:r>
          </a:p>
          <a:p>
            <a:pPr>
              <a:spcAft>
                <a:spcPts val="200"/>
              </a:spcAft>
              <a:defRPr sz="1100">
                <a:solidFill>
                  <a:srgbClr val="C8C8CD"/>
                </a:solidFill>
                <a:latin typeface="Microsoft YaHei"/>
              </a:defRPr>
            </a:pPr>
            <a:r>
              <a:t>  - C端用户达 80万人，签约高校35所，社区60个。</a:t>
            </a:r>
          </a:p>
          <a:p>
            <a:pPr>
              <a:spcAft>
                <a:spcPts val="800"/>
              </a:spcAft>
              <a:defRPr sz="1100">
                <a:solidFill>
                  <a:srgbClr val="39FF14"/>
                </a:solidFill>
                <a:latin typeface="Microsoft YaHei"/>
              </a:defRPr>
            </a:pPr>
            <a:r>
              <a:t>  - 预计年度总营业收入：**820 万元**，净利润率 +12%。</a:t>
            </a:r>
          </a:p>
          <a:p>
            <a:pPr>
              <a:spcAft>
                <a:spcPts val="20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第三年 (Month 25-36):</a:t>
            </a:r>
          </a:p>
          <a:p>
            <a:pPr>
              <a:spcAft>
                <a:spcPts val="200"/>
              </a:spcAft>
              <a:defRPr sz="1100">
                <a:solidFill>
                  <a:srgbClr val="C8C8CD"/>
                </a:solidFill>
                <a:latin typeface="Microsoft YaHei"/>
              </a:defRPr>
            </a:pPr>
            <a:r>
              <a:t>  - C端用户达 500万人，签约高校120所，社区350个。</a:t>
            </a:r>
          </a:p>
          <a:p>
            <a:pPr>
              <a:spcAft>
                <a:spcPts val="800"/>
              </a:spcAft>
              <a:defRPr sz="1100">
                <a:solidFill>
                  <a:srgbClr val="39FF14"/>
                </a:solidFill>
                <a:latin typeface="Microsoft YaHei"/>
              </a:defRPr>
            </a:pPr>
            <a:r>
              <a:t>  - 预计年度总营业收入：**2640 万元**，净利润率 +36%。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F2026"/>
          </a:solidFill>
          <a:ln w="19050">
            <a:solidFill>
              <a:srgbClr val="323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74520"/>
            <a:ext cx="4663440" cy="39319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9FF14"/>
                </a:solidFill>
                <a:latin typeface="Microsoft YaHei"/>
              </a:defRPr>
            </a:pPr>
            <a:r>
              <a:t>天使轮融资规划：150万 - 200万元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• 云算力与医学微调开支 (占比 40% / 约80万元)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  - 用于购买 DPO 临床专家微调数据集，云服务器 GPU 算力租赁，以及 GPT-SoVITS 部署费。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• 前后端研发与团队开支 (占比 35% / 约70万元)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  - 扩充 Flutter 开发团队，完成多厂商智能穿戴设备 Health Kit SDK 的适配器(Adapter)组件开发。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• 高校与社区卫生中心地推 (占比 25% / 约50万元)</a:t>
            </a:r>
          </a:p>
          <a:p>
            <a:pPr>
              <a:spcAft>
                <a:spcPts val="600"/>
              </a:spcAft>
              <a:defRPr sz="1200">
                <a:solidFill>
                  <a:srgbClr val="C8C8CD"/>
                </a:solidFill>
                <a:latin typeface="Microsoft YaHei"/>
              </a:defRPr>
            </a:pPr>
            <a:r>
              <a:t>  - 设立首批校园及社区示范标杆点，打通教务内网路由，获取品牌背书与冷启动用户量。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0" y="1371600"/>
            <a:ext cx="8229600" cy="4114800"/>
          </a:xfrm>
          <a:prstGeom prst="ellipse">
            <a:avLst/>
          </a:prstGeom>
          <a:solidFill>
            <a:srgbClr val="12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3200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>
              <a:spcAft>
                <a:spcPts val="1200"/>
              </a:spcAft>
              <a:defRPr sz="6000" b="1">
                <a:solidFill>
                  <a:srgbClr val="00F0FF"/>
                </a:solidFill>
                <a:latin typeface="Arial"/>
              </a:defRPr>
            </a:pPr>
            <a:r>
              <a:t>Flying Run</a:t>
            </a:r>
          </a:p>
          <a:p>
            <a:pPr algn="ctr">
              <a:spcAft>
                <a:spcPts val="150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谢谢观看，敬请各位评委与投资人指正！</a:t>
            </a:r>
          </a:p>
          <a:p>
            <a:pPr algn="ctr">
              <a:defRPr sz="1400">
                <a:solidFill>
                  <a:srgbClr val="C8C8CD"/>
                </a:solidFill>
                <a:latin typeface="Microsoft YaHei"/>
              </a:defRPr>
            </a:pPr>
            <a:r>
              <a:t>端云协同的AI陪伴式运动打卡与健康数据监测系统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